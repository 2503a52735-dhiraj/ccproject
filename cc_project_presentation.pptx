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109728" cy="3474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0B4D8"/>
                </a:solidFill>
              </a:defRPr>
            </a:pPr>
            <a:r>
              <a:t>COURSE PROJECT : CLOUD COMPUTING &amp; IoT</a:t>
            </a:r>
          </a:p>
          <a:p>
            <a:pPr>
              <a:defRPr sz="3800" b="1">
                <a:solidFill>
                  <a:srgbClr val="FFFFFF"/>
                </a:solidFill>
              </a:defRPr>
            </a:pPr>
            <a:r>
              <a:t>IoT Smart Dash Button System</a:t>
            </a:r>
          </a:p>
          <a:p>
            <a:pPr>
              <a:spcAft>
                <a:spcPts val="2400"/>
              </a:spcAft>
              <a:defRPr sz="2000">
                <a:solidFill>
                  <a:srgbClr val="A0AFC8"/>
                </a:solidFill>
              </a:defRPr>
            </a:pPr>
            <a:r>
              <a:t>Edge-to-Cloud Event-Driven Architecture with ESP8266 NodeMCU</a:t>
            </a:r>
          </a:p>
          <a:p>
            <a:pPr>
              <a:defRPr sz="1300" b="1">
                <a:solidFill>
                  <a:srgbClr val="00B4D8"/>
                </a:solidFill>
              </a:defRPr>
            </a:pPr>
            <a:r>
              <a:t>Presented By: G.Dhiraj kumar • M.Sri Harsh • Y.Jay Vardhan • G.Sathwik • S.Jashwanth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B4D8"/>
                </a:solidFill>
                <a:latin typeface="Arial"/>
              </a:defRPr>
            </a:pPr>
            <a:r>
              <a:t>TEAM CREDITS</a:t>
            </a:r>
          </a:p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Project Team Members &amp; Contributions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2084831" cy="448056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2D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76656" y="1783080"/>
            <a:ext cx="1828799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[LEAD]</a:t>
            </a:r>
          </a:p>
          <a:p>
            <a:pPr>
              <a:defRPr sz="1350" b="1">
                <a:solidFill>
                  <a:srgbClr val="FFFFFF"/>
                </a:solidFill>
                <a:latin typeface="Arial"/>
              </a:defRPr>
            </a:pPr>
            <a:r>
              <a:t>G.Dhiraj kumar</a:t>
            </a:r>
          </a:p>
          <a:p>
            <a:pPr>
              <a:spcAft>
                <a:spcPts val="400"/>
              </a:spcAft>
              <a:defRPr sz="1100" b="1">
                <a:solidFill>
                  <a:srgbClr val="00B4D8"/>
                </a:solidFill>
                <a:latin typeface="Arial"/>
              </a:defRPr>
            </a:pPr>
            <a:r>
              <a:t>Roll: 2503A52735</a:t>
            </a:r>
          </a:p>
          <a:p>
            <a:pPr>
              <a:spcAft>
                <a:spcPts val="1000"/>
              </a:spcAft>
              <a:defRPr sz="1000">
                <a:solidFill>
                  <a:srgbClr val="A0AFC8"/>
                </a:solidFill>
              </a:defRPr>
            </a:pPr>
            <a:r>
              <a:t>Role: Team Lead / Cloud Architecture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  <a:latin typeface="Arial"/>
              </a:defRPr>
            </a:pPr>
            <a:r>
              <a:t>• Serverless cloud webhook design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  <a:latin typeface="Arial"/>
              </a:defRPr>
            </a:pPr>
            <a:r>
              <a:t>• Cloudflare Worker HTTP POST pipeline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  <a:latin typeface="Arial"/>
              </a:defRPr>
            </a:pPr>
            <a:r>
              <a:t>• Architecture planning &amp; team coordination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98063" y="1645920"/>
            <a:ext cx="2084831" cy="448056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2D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79" y="1783080"/>
            <a:ext cx="1828799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B4D8"/>
                </a:solidFill>
              </a:defRPr>
            </a:pPr>
            <a:r>
              <a:t>[CORE]</a:t>
            </a:r>
          </a:p>
          <a:p>
            <a:pPr>
              <a:defRPr sz="1350" b="1">
                <a:solidFill>
                  <a:srgbClr val="FFFFFF"/>
                </a:solidFill>
                <a:latin typeface="Arial"/>
              </a:defRPr>
            </a:pPr>
            <a:r>
              <a:t>M.Sri Harsh</a:t>
            </a:r>
          </a:p>
          <a:p>
            <a:pPr>
              <a:spcAft>
                <a:spcPts val="400"/>
              </a:spcAft>
              <a:defRPr sz="1100" b="1">
                <a:solidFill>
                  <a:srgbClr val="00B4D8"/>
                </a:solidFill>
                <a:latin typeface="Arial"/>
              </a:defRPr>
            </a:pPr>
            <a:r>
              <a:t>Roll: 2503A52740</a:t>
            </a:r>
          </a:p>
          <a:p>
            <a:pPr>
              <a:spcAft>
                <a:spcPts val="1000"/>
              </a:spcAft>
              <a:defRPr sz="1000">
                <a:solidFill>
                  <a:srgbClr val="A0AFC8"/>
                </a:solidFill>
              </a:defRPr>
            </a:pPr>
            <a:r>
              <a:t>Role: Firmware &amp; Networking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  <a:latin typeface="Arial"/>
              </a:defRPr>
            </a:pPr>
            <a:r>
              <a:t>• ESP8266 C++ firmware (Untitled-1.cpp)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  <a:latin typeface="Arial"/>
              </a:defRPr>
            </a:pPr>
            <a:r>
              <a:t>• WiFiClientSecure TLS socket handler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  <a:latin typeface="Arial"/>
              </a:defRPr>
            </a:pPr>
            <a:r>
              <a:t>• Wi-Fi handshake &amp; connection management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7486" y="1645920"/>
            <a:ext cx="2084831" cy="448056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2D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75502" y="1783080"/>
            <a:ext cx="1828799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B4D8"/>
                </a:solidFill>
              </a:defRPr>
            </a:pPr>
            <a:r>
              <a:t>[CORE]</a:t>
            </a:r>
          </a:p>
          <a:p>
            <a:pPr>
              <a:defRPr sz="1350" b="1">
                <a:solidFill>
                  <a:srgbClr val="FFFFFF"/>
                </a:solidFill>
                <a:latin typeface="Arial"/>
              </a:defRPr>
            </a:pPr>
            <a:r>
              <a:t>Y.Jay Vardhan</a:t>
            </a:r>
          </a:p>
          <a:p>
            <a:pPr>
              <a:spcAft>
                <a:spcPts val="400"/>
              </a:spcAft>
              <a:defRPr sz="1100" b="1">
                <a:solidFill>
                  <a:srgbClr val="00B4D8"/>
                </a:solidFill>
                <a:latin typeface="Arial"/>
              </a:defRPr>
            </a:pPr>
            <a:r>
              <a:t>Roll: 2503A52747</a:t>
            </a:r>
          </a:p>
          <a:p>
            <a:pPr>
              <a:spcAft>
                <a:spcPts val="1000"/>
              </a:spcAft>
              <a:defRPr sz="1000">
                <a:solidFill>
                  <a:srgbClr val="A0AFC8"/>
                </a:solidFill>
              </a:defRPr>
            </a:pPr>
            <a:r>
              <a:t>Role: Hardware &amp; Circuit Design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  <a:latin typeface="Arial"/>
              </a:defRPr>
            </a:pPr>
            <a:r>
              <a:t>• Wokwi circuit schematic design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  <a:latin typeface="Arial"/>
              </a:defRPr>
            </a:pPr>
            <a:r>
              <a:t>• NodeMCU Pin D2 (GPIO 4) pull-up logic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  <a:latin typeface="Arial"/>
              </a:defRPr>
            </a:pPr>
            <a:r>
              <a:t>• Short-circuit removal &amp; wiring validation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96909" y="1645920"/>
            <a:ext cx="2084831" cy="448056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2D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24925" y="1783080"/>
            <a:ext cx="1828799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B4D8"/>
                </a:solidFill>
              </a:defRPr>
            </a:pPr>
            <a:r>
              <a:t>[CORE]</a:t>
            </a:r>
          </a:p>
          <a:p>
            <a:pPr>
              <a:defRPr sz="1350" b="1">
                <a:solidFill>
                  <a:srgbClr val="FFFFFF"/>
                </a:solidFill>
                <a:latin typeface="Arial"/>
              </a:defRPr>
            </a:pPr>
            <a:r>
              <a:t>G.Sathwik</a:t>
            </a:r>
          </a:p>
          <a:p>
            <a:pPr>
              <a:spcAft>
                <a:spcPts val="400"/>
              </a:spcAft>
              <a:defRPr sz="1100" b="1">
                <a:solidFill>
                  <a:srgbClr val="00B4D8"/>
                </a:solidFill>
                <a:latin typeface="Arial"/>
              </a:defRPr>
            </a:pPr>
            <a:r>
              <a:t>Roll: 2503A52734</a:t>
            </a:r>
          </a:p>
          <a:p>
            <a:pPr>
              <a:spcAft>
                <a:spcPts val="1000"/>
              </a:spcAft>
              <a:defRPr sz="1000">
                <a:solidFill>
                  <a:srgbClr val="A0AFC8"/>
                </a:solidFill>
              </a:defRPr>
            </a:pPr>
            <a:r>
              <a:t>Role: Debounce Logic &amp; Testing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  <a:latin typeface="Arial"/>
              </a:defRPr>
            </a:pPr>
            <a:r>
              <a:t>• 500ms software debounce implementation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  <a:latin typeface="Arial"/>
              </a:defRPr>
            </a:pPr>
            <a:r>
              <a:t>• Baseline Serial Monitor sketch (sketch.ino)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  <a:latin typeface="Arial"/>
              </a:defRPr>
            </a:pPr>
            <a:r>
              <a:t>• Contact bounce rejection verification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546332" y="1645920"/>
            <a:ext cx="2084831" cy="448056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2D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74348" y="1783080"/>
            <a:ext cx="1828799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B4D8"/>
                </a:solidFill>
              </a:defRPr>
            </a:pPr>
            <a:r>
              <a:t>[CORE]</a:t>
            </a:r>
          </a:p>
          <a:p>
            <a:pPr>
              <a:defRPr sz="1350" b="1">
                <a:solidFill>
                  <a:srgbClr val="FFFFFF"/>
                </a:solidFill>
                <a:latin typeface="Arial"/>
              </a:defRPr>
            </a:pPr>
            <a:r>
              <a:t>S.Jashwanth</a:t>
            </a:r>
          </a:p>
          <a:p>
            <a:pPr>
              <a:spcAft>
                <a:spcPts val="400"/>
              </a:spcAft>
              <a:defRPr sz="1100" b="1">
                <a:solidFill>
                  <a:srgbClr val="00B4D8"/>
                </a:solidFill>
                <a:latin typeface="Arial"/>
              </a:defRPr>
            </a:pPr>
            <a:r>
              <a:t>Roll: 2503A52743</a:t>
            </a:r>
          </a:p>
          <a:p>
            <a:pPr>
              <a:spcAft>
                <a:spcPts val="1000"/>
              </a:spcAft>
              <a:defRPr sz="1000">
                <a:solidFill>
                  <a:srgbClr val="A0AFC8"/>
                </a:solidFill>
              </a:defRPr>
            </a:pPr>
            <a:r>
              <a:t>Role: Telemetry &amp; UI Dashboard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  <a:latin typeface="Arial"/>
              </a:defRPr>
            </a:pPr>
            <a:r>
              <a:t>• Real-time web monitoring dashboard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  <a:latin typeface="Arial"/>
              </a:defRPr>
            </a:pPr>
            <a:r>
              <a:t>• Python simulation suite (run_simulation.py)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  <a:latin typeface="Arial"/>
              </a:defRPr>
            </a:pPr>
            <a:r>
              <a:t>• Latency profiling &amp; CSV event audit logging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B4D8"/>
                </a:solidFill>
                <a:latin typeface="Arial"/>
              </a:defRPr>
            </a:pPr>
            <a:r>
              <a:t>PROJECT OVERVIEW</a:t>
            </a:r>
          </a:p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Introduction &amp; Motivation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2D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10512"/>
            <a:ext cx="4754880" cy="40599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0B4D8"/>
                </a:solidFill>
                <a:latin typeface="Arial"/>
              </a:defRPr>
            </a:pPr>
            <a:r>
              <a:t>[CONCEPT] The IoT Edge-Trigger Paradigm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Arial"/>
              </a:defRPr>
            </a:pPr>
            <a:r>
              <a:t>• Traditional IoT sensors maintain 24/7 persistent socket connections, wasting bandwidth and battery power.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Arial"/>
              </a:defRPr>
            </a:pPr>
            <a:r>
              <a:t>• The Smart Dash Button paradigm solves this via Event-Driven Computing: the device sleeps until physically triggered.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Arial"/>
              </a:defRPr>
            </a:pPr>
            <a:r>
              <a:t>• A single button push wakes the controller, establishes secure Wi-Fi, dispatches a cloud webhook, and returns to idle.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Arial"/>
              </a:defRPr>
            </a:pPr>
            <a:r>
              <a:t>• Eliminates unnecessary cloud server compute hours and maximizes device longevity.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2D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10512"/>
            <a:ext cx="4754880" cy="40599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0B4D8"/>
                </a:solidFill>
                <a:latin typeface="Arial"/>
              </a:defRPr>
            </a:pPr>
            <a:r>
              <a:t>[APPLICATIONS] Real-World Application Domains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Arial"/>
              </a:defRPr>
            </a:pPr>
            <a:r>
              <a:t>• Industrial IoT: Factory-floor emergency stop alerts, maintenance requests, and hazardous incident logging.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Arial"/>
              </a:defRPr>
            </a:pPr>
            <a:r>
              <a:t>• Smart Healthcare: Hospital bed patient-call trigger system with zero complex training needed.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Arial"/>
              </a:defRPr>
            </a:pPr>
            <a:r>
              <a:t>• Supply Chain &amp; Retail: Instant one-click inventory reordering (Amazon Dash model).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Arial"/>
              </a:defRPr>
            </a:pPr>
            <a:r>
              <a:t>• Smart Facilities: Immediate facility maintenance or security scene dispatch over cloud webhooks.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B4D8"/>
                </a:solidFill>
                <a:latin typeface="Arial"/>
              </a:defRPr>
            </a:pPr>
            <a:r>
              <a:t>PROBLEM DEFINITION</a:t>
            </a:r>
          </a:p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Problem Statement &amp; Objectives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2D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10512"/>
            <a:ext cx="4754880" cy="40599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0B4D8"/>
                </a:solidFill>
                <a:latin typeface="Arial"/>
              </a:defRPr>
            </a:pPr>
            <a:r>
              <a:t>[CHALLENGES] Key Engineering Challenges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Arial"/>
              </a:defRPr>
            </a:pPr>
            <a:r>
              <a:t>• Floating Pin Noise: Microcontroller input pins pick up ambient EMI, triggering false events without stable biasing.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Arial"/>
              </a:defRPr>
            </a:pPr>
            <a:r>
              <a:t>• Mechanical Contact Bounce: Physical switches oscillate for several milliseconds, causing 5-10 duplicate triggers per press.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Arial"/>
              </a:defRPr>
            </a:pPr>
            <a:r>
              <a:t>• Transmission Insecurity: IoT devices often send unencrypted cleartext HTTP packets over local Wi-Fi networks.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Arial"/>
              </a:defRPr>
            </a:pPr>
            <a:r>
              <a:t>• Cloud Idle Waste: Dedicated cloud servers run continuously even when requests arrive sporadically.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2D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10512"/>
            <a:ext cx="4754880" cy="40599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0B4D8"/>
                </a:solidFill>
                <a:latin typeface="Arial"/>
              </a:defRPr>
            </a:pPr>
            <a:r>
              <a:t>[OBJECTIVES] Core Project Objectives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Arial"/>
              </a:defRPr>
            </a:pPr>
            <a:r>
              <a:t>• Design a zero-external-resistor circuit leveraging internal INPUT_PULLUP logic on NodeMCU D2.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Arial"/>
              </a:defRPr>
            </a:pPr>
            <a:r>
              <a:t>• Implement an embedded 500ms software debounce filter to eliminate spurious transmissions.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Arial"/>
              </a:defRPr>
            </a:pPr>
            <a:r>
              <a:t>• Establish encrypted TLS connections over Wi-Fi using WiFiClientSecure on port 443.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Arial"/>
              </a:defRPr>
            </a:pPr>
            <a:r>
              <a:t>• Integrate a Serverless Cloud Webhook backend and a real-time web telemetry dashboard.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B4D8"/>
                </a:solidFill>
                <a:latin typeface="Arial"/>
              </a:defRPr>
            </a:pPr>
            <a:r>
              <a:t>ARCHITECTURE</a:t>
            </a:r>
          </a:p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System Architecture : 3-Tier Cloud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74720" cy="438912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2D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10512"/>
            <a:ext cx="3108960" cy="40599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0B4D8"/>
                </a:solidFill>
                <a:latin typeface="Arial"/>
              </a:defRPr>
            </a:pPr>
            <a:r>
              <a:t>[TIER 1] Tier 1: Edge Layer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Arial"/>
              </a:defRPr>
            </a:pPr>
            <a:r>
              <a:t>• Focus: Microcontroller &amp; Sensors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Arial"/>
              </a:defRPr>
            </a:pPr>
            <a:r>
              <a:t>• ESP8266 NodeMCU (160 MHz)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Arial"/>
              </a:defRPr>
            </a:pPr>
            <a:r>
              <a:t>• Pin D2 (GPIO 4) &amp; GND wiring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Arial"/>
              </a:defRPr>
            </a:pPr>
            <a:r>
              <a:t>• Internal 10k pull-up resistor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Arial"/>
              </a:defRPr>
            </a:pPr>
            <a:r>
              <a:t>• 500ms debounce interrupt filter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645920"/>
            <a:ext cx="3474720" cy="438912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2D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26280" y="1810512"/>
            <a:ext cx="3108960" cy="40599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0B4D8"/>
                </a:solidFill>
                <a:latin typeface="Arial"/>
              </a:defRPr>
            </a:pPr>
            <a:r>
              <a:t>[TIER 2] Tier 2: Transport Layer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Arial"/>
              </a:defRPr>
            </a:pPr>
            <a:r>
              <a:t>• Focus: Networking &amp; Encryption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Arial"/>
              </a:defRPr>
            </a:pPr>
            <a:r>
              <a:t>• Wi-Fi 802.11 b/g/n (Wokwi-GUEST)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Arial"/>
              </a:defRPr>
            </a:pPr>
            <a:r>
              <a:t>• WiFiClientSecure socket handler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Arial"/>
              </a:defRPr>
            </a:pPr>
            <a:r>
              <a:t>• TLS encrypted channel (Port 443)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Arial"/>
              </a:defRPr>
            </a:pPr>
            <a:r>
              <a:t>• JSON-formatted POST payload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1645920"/>
            <a:ext cx="3474720" cy="438912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2D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0" y="1810512"/>
            <a:ext cx="3108960" cy="40599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0B4D8"/>
                </a:solidFill>
                <a:latin typeface="Arial"/>
              </a:defRPr>
            </a:pPr>
            <a:r>
              <a:t>[TIER 3] Tier 3: Cloud Layer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Arial"/>
              </a:defRPr>
            </a:pPr>
            <a:r>
              <a:t>• Focus: Serverless &amp; Dashboard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Arial"/>
              </a:defRPr>
            </a:pPr>
            <a:r>
              <a:t>• Cloudflare Workers / AWS Lambda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Arial"/>
              </a:defRPr>
            </a:pPr>
            <a:r>
              <a:t>• Zero-idle compute scaling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Arial"/>
              </a:defRPr>
            </a:pPr>
            <a:r>
              <a:t>• HTTP 200 OK acknowledgment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Arial"/>
              </a:defRPr>
            </a:pPr>
            <a:r>
              <a:t>• Live Web Telemetry Dashboard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B4D8"/>
                </a:solidFill>
                <a:latin typeface="Arial"/>
              </a:defRPr>
            </a:pPr>
            <a:r>
              <a:t>CIRCUIT SPECS</a:t>
            </a:r>
          </a:p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Hardware Design &amp; Circuit Schematic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2D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10512"/>
            <a:ext cx="4754880" cy="40599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0B4D8"/>
                </a:solidFill>
                <a:latin typeface="Arial"/>
              </a:defRPr>
            </a:pPr>
            <a:r>
              <a:t>[HARDWARE] ESP8266 NodeMCU 1.0 Specifications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Arial"/>
              </a:defRPr>
            </a:pPr>
            <a:r>
              <a:t>• Processor: Tensilica L106 32-bit RISC running at 80/160 MHz.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Arial"/>
              </a:defRPr>
            </a:pPr>
            <a:r>
              <a:t>• Memory: 64 KB Instruction RAM, 96 KB Data RAM, 4MB SPI Flash.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Arial"/>
              </a:defRPr>
            </a:pPr>
            <a:r>
              <a:t>• Wireless: Integrated 802.11 b/g/n Wi-Fi transceiver with PCB antenna.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Arial"/>
              </a:defRPr>
            </a:pPr>
            <a:r>
              <a:t>• GPIO: Configured Pin D2 (GPIO 4) with internal pull-up enabled.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Arial"/>
              </a:defRPr>
            </a:pPr>
            <a:r>
              <a:t>• Operating Voltage: 3.3V logic level powered via micro-USB 5V regulator.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2D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10512"/>
            <a:ext cx="4754880" cy="40599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0B4D8"/>
                </a:solidFill>
                <a:latin typeface="Arial"/>
              </a:defRPr>
            </a:pPr>
            <a:r>
              <a:t>[SCHEMATIC] Circuit Schematic &amp; Wiring Logic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Arial"/>
              </a:defRPr>
            </a:pPr>
            <a:r>
              <a:t>• Pin D2 (GPIO 4) is connected directly to pushbutton terminal 1.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Arial"/>
              </a:defRPr>
            </a:pPr>
            <a:r>
              <a:t>• Opposite pushbutton terminal is connected directly to NodeMCU GND.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Arial"/>
              </a:defRPr>
            </a:pPr>
            <a:r>
              <a:t>• Normal State (Released): Pin D2 is held HIGH (3.3V) by internal 10k resistor.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Arial"/>
              </a:defRPr>
            </a:pPr>
            <a:r>
              <a:t>• Trigger State (Pressed): Pin D2 is grounded to LOW (0V).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Arial"/>
              </a:defRPr>
            </a:pPr>
            <a:r>
              <a:t>• Critical Fix: Removed erroneous 3V3-to-GND bypass connection from early design, preventing circuit shorts.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B4D8"/>
                </a:solidFill>
                <a:latin typeface="Arial"/>
              </a:defRPr>
            </a:pPr>
            <a:r>
              <a:t>FIRMWARE</a:t>
            </a:r>
          </a:p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Embedded Firmware &amp; Dual-Mode Logic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2D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10512"/>
            <a:ext cx="4754880" cy="40599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0B4D8"/>
                </a:solidFill>
                <a:latin typeface="Arial"/>
              </a:defRPr>
            </a:pPr>
            <a:r>
              <a:t>[LOCAL MODE] sketch.ino : Serial Validation Mode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Arial"/>
              </a:defRPr>
            </a:pPr>
            <a:r>
              <a:t>• Serves as the baseline hardware sanity check sketch.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Arial"/>
              </a:defRPr>
            </a:pPr>
            <a:r>
              <a:t>• Configures pinMode(buttonPin, INPUT_PULLUP) at 115200 baud.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Arial"/>
              </a:defRPr>
            </a:pPr>
            <a:r>
              <a:t>• Runs continuous loop reading digitalRead(D2) with 200ms polling.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Arial"/>
              </a:defRPr>
            </a:pPr>
            <a:r>
              <a:t>• Outputs 'Button pressed' (LOW) or 'Button released' (HIGH).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Arial"/>
              </a:defRPr>
            </a:pPr>
            <a:r>
              <a:t>• Validates physical contact connectivity before initializing network stacks.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2D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10512"/>
            <a:ext cx="4754880" cy="40599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0B4D8"/>
                </a:solidFill>
                <a:latin typeface="Arial"/>
              </a:defRPr>
            </a:pPr>
            <a:r>
              <a:t>[CLOUD MODE] Untitled-1.cpp : IoT Cloud Webhook Mode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Arial"/>
              </a:defRPr>
            </a:pPr>
            <a:r>
              <a:t>• Full production firmware with &lt;ESP8266WiFi.h&gt; and &lt;WiFiClientSecure.h&gt;.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Arial"/>
              </a:defRPr>
            </a:pPr>
            <a:r>
              <a:t>• Connects to Wi-Fi access point with automatic connection retry.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Arial"/>
              </a:defRPr>
            </a:pPr>
            <a:r>
              <a:t>• Active Debouncing: delay(500) prevents duplicate triggers on contact bounce.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Arial"/>
              </a:defRPr>
            </a:pPr>
            <a:r>
              <a:t>• Formats HTTP POST request with host header and Content-Type: application/json.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Arial"/>
              </a:defRPr>
            </a:pPr>
            <a:r>
              <a:t>• Dispatches JSON payload and cleanly closes TCP socket on completion.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B4D8"/>
                </a:solidFill>
                <a:latin typeface="Arial"/>
              </a:defRPr>
            </a:pPr>
            <a:r>
              <a:t>CLOUD BACKEND</a:t>
            </a:r>
          </a:p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Serverless Cloud Webhook Integration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2D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10512"/>
            <a:ext cx="4754880" cy="40599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0B4D8"/>
                </a:solidFill>
                <a:latin typeface="Arial"/>
              </a:defRPr>
            </a:pPr>
            <a:r>
              <a:t>[PARADIGM] Serverless Compute Model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Arial"/>
              </a:defRPr>
            </a:pPr>
            <a:r>
              <a:t>• Event-Triggered: Cloud worker instantiates only when an HTTP POST packet arrives.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Arial"/>
              </a:defRPr>
            </a:pPr>
            <a:r>
              <a:t>• Zero Idle Cost: Eliminates 24/7 compute charges incurred by traditional virtual machines.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Arial"/>
              </a:defRPr>
            </a:pPr>
            <a:r>
              <a:t>• Auto-Scaling: Can process from 1 to 100,000 simultaneous button presses seamlessly.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Arial"/>
              </a:defRPr>
            </a:pPr>
            <a:r>
              <a:t>• Target Providers: Cloudflare Workers (V8 isolates), AWS Lambda, or Google Cloud Run.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2D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10512"/>
            <a:ext cx="4754880" cy="40599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0B4D8"/>
                </a:solidFill>
                <a:latin typeface="Arial"/>
              </a:defRPr>
            </a:pPr>
            <a:r>
              <a:t>[API PROTOCOL] Webhook Payload &amp; Response Cycle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Arial"/>
              </a:defRPr>
            </a:pPr>
            <a:r>
              <a:t>• Request Method: POST / HTTP/1.1 with TLS 1.3 encryption.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Arial"/>
              </a:defRPr>
            </a:pPr>
            <a:r>
              <a:t>• Payload Schema: {"message": "Hello from physical trigger button!", "pin": "D2", "device": "NodeMCU"}.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Arial"/>
              </a:defRPr>
            </a:pPr>
            <a:r>
              <a:t>• Authentication: API bearer token or HMAC signature header support.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Arial"/>
              </a:defRPr>
            </a:pPr>
            <a:r>
              <a:t>• Response: HTTP 200 OK with {"status": "success", "received": true}.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Arial"/>
              </a:defRPr>
            </a:pPr>
            <a:r>
              <a:t>• Downstream Actions: SMS alert (Twilio), database entry, or MQTT broker relay.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B4D8"/>
                </a:solidFill>
                <a:latin typeface="Arial"/>
              </a:defRPr>
            </a:pPr>
            <a:r>
              <a:t>RESULTS &amp; VERIFICATION</a:t>
            </a:r>
          </a:p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Live Dashboard &amp; Telemetry Results</a:t>
            </a:r>
          </a:p>
        </p:txBody>
      </p:sp>
      <p:pic>
        <p:nvPicPr>
          <p:cNvPr id="4" name="Picture 3" descr="iot_dash_board_179169401165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669280" cy="3164249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675120" y="1645920"/>
            <a:ext cx="4754880" cy="438912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2D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0" y="1810512"/>
            <a:ext cx="4389120" cy="40599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0B4D8"/>
                </a:solidFill>
                <a:latin typeface="Arial"/>
              </a:defRPr>
            </a:pPr>
            <a:r>
              <a:t>[METRICS] Experimental Performance Metrics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Arial"/>
              </a:defRPr>
            </a:pPr>
            <a:r>
              <a:t>• Average Round-Trip Latency: 42ms (Edge button press to Cloud 200 OK).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Arial"/>
              </a:defRPr>
            </a:pPr>
            <a:r>
              <a:t>• Debounce Accuracy: 100% of sub-500ms bounce contacts successfully suppressed.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Arial"/>
              </a:defRPr>
            </a:pPr>
            <a:r>
              <a:t>• Cloud Delivery Success Rate: 100% across all simulated test cycles.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Arial"/>
              </a:defRPr>
            </a:pPr>
            <a:r>
              <a:t>• Wi-Fi Signal Strength: -54 dBm RSSI (Excellent connection quality).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Arial"/>
              </a:defRPr>
            </a:pPr>
            <a:r>
              <a:t>• Python Simulation Runner: run_simulation.py successfully verifies entire pipeline locally.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B4D8"/>
                </a:solidFill>
                <a:latin typeface="Arial"/>
              </a:defRPr>
            </a:pPr>
            <a:r>
              <a:t>CONCLUSION</a:t>
            </a:r>
          </a:p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Future Enhancements &amp; Conclusion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2D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10512"/>
            <a:ext cx="4754880" cy="40599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0B4D8"/>
                </a:solidFill>
                <a:latin typeface="Arial"/>
              </a:defRPr>
            </a:pPr>
            <a:r>
              <a:t>[FUTURE WORK] Planned Future Enhancements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Arial"/>
              </a:defRPr>
            </a:pPr>
            <a:r>
              <a:t>• Deep Sleep Power Optimization: Put ESP8266 into deep sleep (&lt;20µA current) and wake via GPIO 16 (D0) to RST tie for 1+ year coin-cell battery life.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Arial"/>
              </a:defRPr>
            </a:pPr>
            <a:r>
              <a:t>• MQTT / AWS IoT Core Protocol: Transition from HTTP to lightweight MQTT publish/subscribe for ultra-low packet overhead.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Arial"/>
              </a:defRPr>
            </a:pPr>
            <a:r>
              <a:t>• Hardware mTLS: Integrate ATECC608A cryptographic co-processor for zero-touch hardware certificate authentication.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Arial"/>
              </a:defRPr>
            </a:pPr>
            <a:r>
              <a:t>• Multi-Click Gestures: Support single-click, double-click, and long-press for multi-purpose action triggering.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2D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10512"/>
            <a:ext cx="4754880" cy="40599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0B4D8"/>
                </a:solidFill>
                <a:latin typeface="Arial"/>
              </a:defRPr>
            </a:pPr>
            <a:r>
              <a:t>[SUMMARY] Summary &amp; Key Takeaways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Arial"/>
              </a:defRPr>
            </a:pPr>
            <a:r>
              <a:t>• Successfully prototyped a functional IoT Smart Dash Button using ESP8266 NodeMCU.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Arial"/>
              </a:defRPr>
            </a:pPr>
            <a:r>
              <a:t>• Eliminated external circuit components using internal INPUT_PULLUP resistor logic.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Arial"/>
              </a:defRPr>
            </a:pPr>
            <a:r>
              <a:t>• Demonstrated seamless integration between edge physical hardware and Serverless Cloud Webhooks.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Arial"/>
              </a:defRPr>
            </a:pPr>
            <a:r>
              <a:t>• Developed an interactive live monitoring dashboard and Python simulation suite for full project validation.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